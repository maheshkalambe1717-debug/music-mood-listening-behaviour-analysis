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FE7514-54E1-4591-BCAC-38E1F6753BDB}" v="30" dt="2025-10-27T11:05:46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205C-38D9-7520-20BB-E21211F76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FEDE5-9D8F-E842-F482-44B0E28825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0C2FA-36DD-C27E-B4FA-075B3A1CC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EFC3-47A9-C572-5BBC-293589969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71970-2708-E867-103E-28C183582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2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1C23-7142-73D5-DF2F-DC5F2FCE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A1098-B52F-E4F3-713E-0F23226ED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CAA2-B7BE-FBF7-7FFA-CE06B3E3E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62E66-7A8A-1BE3-49F6-7D9EC9AC8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0758E-8162-4400-834E-A7B4B934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88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D93D-C173-8194-DA1D-B1FA5F2CC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73F65-304A-808B-9C6B-54BFC3A68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182FE-23C8-ACA6-58A4-73FB8AD2F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F2E94-5C88-35FD-96FE-EECAA92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2718C-1B7B-7403-6C06-9F869224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653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2EB7E-7E2D-60AC-B11C-377CB1E5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17B46-01FA-AEDF-C109-C465066A4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C2AB0-F8A0-D5A1-6FFC-81D619F4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93219-B75A-D0E3-1FBD-11B34D70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68E4D-95E4-1D60-7EBA-2CEB858E0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14D70-961F-56F1-8FB9-C868627D5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21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002F1-AC96-4402-A758-337226E66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E5A0A-0291-17A3-6410-7230D239A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2607E-EF95-142D-4936-9ED420AF0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05E0E8-A6BA-9533-5F0D-6EA8B71D7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41F6-3C61-412E-35B5-93B529316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318F1-5E9D-7F0A-E134-217658795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3280E-62F6-9CA1-449F-26F72E35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A0433-D05C-5B94-6409-D6F07A24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1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D78B-3E55-14C0-9F90-1ACA39ACA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CCBCF-5497-39D1-EC00-6896A707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0DEFF-D4A3-FFCA-AEE5-9708E228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F2DC5F-DA89-973E-6057-9115A570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7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FC997-BCDC-9B14-E9B1-47D832AF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9F9B5-6324-1672-4903-B8F049C8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708F6-2532-0B65-4C42-B363663E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0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DB5E3-BA11-72AC-1CB7-11BB92F68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822C1-7E38-1139-D473-BDE0F7222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58EA3C-9723-9220-AAE4-173A8330D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2432F-1ED8-FDCC-D7A5-3064BF99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CB1E1-6ED9-6B0B-D31E-CD75D6ECB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2AC31-0339-E19E-DCBF-D7CBEEF5C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44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F297-76FB-7F62-F824-8B76F7644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43B81-8CDC-FF2C-4E98-0EBCE44E2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02EE5-C338-A6BB-7366-B28728A34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FF0DF-E930-E17B-B295-30F8FEE1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085FB-2E49-3F2D-8AAF-93AB764A4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04DE0-35EA-B0A0-17FD-DEA7F18BD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55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0B09-82F3-BA20-FDBD-BE828192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7A4FD-1B6F-F5EC-C8D7-22F717FBD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455C6-1804-4697-B032-1CBF3C8ED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05856-BB0F-B424-9AFD-0C0F63FE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CD474-DA98-4677-70B0-9DB376E8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7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47FCA-5392-AA0A-0D02-F558B2C7F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639709-F94A-23B0-B54A-5117E8411C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237AA-55DF-2E1B-DACA-7EA04874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6E48D-FF42-B8A0-EBA7-708F0EC86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0697-CC07-C0D5-A60B-8901BDAE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56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0CE11-86F2-2026-229D-64B319EC8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B85FD-A4C0-943D-25DC-86EC96C49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B6688-7428-77DF-35E1-723C4BC0BC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D6F83-DD43-4CBC-B143-843752C0C7A6}" type="datetimeFigureOut">
              <a:rPr lang="en-IN" smtClean="0"/>
              <a:t>27-10-2025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4C5DE-8C1B-D4DE-FB3C-116913D29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7A7EE-9AA8-7ABF-D51E-75A4C7A7E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E77F4B-3AFA-484D-95EE-76BCE6122B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1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03BB-DC0B-4ADE-95B9-5B62CBD54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9760" y="2849880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Music Mood &amp; Listening Behavior Analysis </a:t>
            </a:r>
            <a:br>
              <a:rPr lang="en-US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</a:br>
            <a:r>
              <a:rPr lang="en-US" sz="40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SQL Project</a:t>
            </a:r>
            <a:endParaRPr lang="en-IN" sz="4000" b="1" dirty="0">
              <a:solidFill>
                <a:srgbClr val="A5002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1C382-6445-23E5-1878-FC7C42138873}"/>
              </a:ext>
            </a:extLst>
          </p:cNvPr>
          <p:cNvSpPr txBox="1"/>
          <p:nvPr/>
        </p:nvSpPr>
        <p:spPr>
          <a:xfrm>
            <a:off x="5603240" y="5430520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Presented</a:t>
            </a:r>
            <a:r>
              <a:rPr lang="en-US" dirty="0">
                <a:latin typeface="Book Antiqua" panose="02040602050305030304" pitchFamily="18" charset="0"/>
              </a:rPr>
              <a:t> </a:t>
            </a:r>
            <a:r>
              <a:rPr lang="en-US" b="1" dirty="0">
                <a:latin typeface="Book Antiqua" panose="02040602050305030304" pitchFamily="18" charset="0"/>
              </a:rPr>
              <a:t>By 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FBAFA1-A4C5-9639-A368-42B3CB315F7C}"/>
              </a:ext>
            </a:extLst>
          </p:cNvPr>
          <p:cNvSpPr txBox="1"/>
          <p:nvPr/>
        </p:nvSpPr>
        <p:spPr>
          <a:xfrm>
            <a:off x="4292600" y="5799852"/>
            <a:ext cx="4338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Book Antiqua" panose="02040602050305030304" pitchFamily="18" charset="0"/>
              </a:rPr>
              <a:t>Mahesh Sanjay Kalambe</a:t>
            </a:r>
            <a:endParaRPr lang="en-IN" sz="28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Picture 2" descr="Let Music Therapy Conduct the Harmony of Your Health - StoryMD">
            <a:extLst>
              <a:ext uri="{FF2B5EF4-FFF2-40B4-BE49-F238E27FC236}">
                <a16:creationId xmlns:a16="http://schemas.microsoft.com/office/drawing/2014/main" id="{011BD0E0-7A53-7121-8E18-F1DCDBA2A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760" y="172949"/>
            <a:ext cx="6096000" cy="325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27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520D10-0113-B06C-C15F-B1E51DC2AFEB}"/>
              </a:ext>
            </a:extLst>
          </p:cNvPr>
          <p:cNvSpPr txBox="1"/>
          <p:nvPr/>
        </p:nvSpPr>
        <p:spPr>
          <a:xfrm>
            <a:off x="579120" y="805180"/>
            <a:ext cx="6156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Book Antiqua" panose="02040602050305030304" pitchFamily="18" charset="0"/>
              </a:rPr>
              <a:t>Problem Statement</a:t>
            </a:r>
            <a:endParaRPr lang="en-IN" sz="28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B0F69-F938-50BC-22E5-A93AD061C841}"/>
              </a:ext>
            </a:extLst>
          </p:cNvPr>
          <p:cNvSpPr txBox="1"/>
          <p:nvPr/>
        </p:nvSpPr>
        <p:spPr>
          <a:xfrm>
            <a:off x="579120" y="1513840"/>
            <a:ext cx="111150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 Antiqua" panose="02040602050305030304" pitchFamily="18" charset="0"/>
              </a:rPr>
              <a:t>With the rapid growth of online music streaming platforms, understanding user behavior, preferences, and listening patterns has become essential for improving user engagement and personalization.</a:t>
            </a:r>
          </a:p>
          <a:p>
            <a:r>
              <a:rPr lang="en-US" dirty="0">
                <a:latin typeface="Book Antiqua" panose="02040602050305030304" pitchFamily="18" charset="0"/>
              </a:rPr>
              <a:t>Music platforms often struggle to analyze massive amounts of listening data to uncover trends such as: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What moods or genres are most popular?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Which artists are trending in specific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How do listening habits change based on time, mood, or device?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Which users are the most active or diverse listeners?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r>
              <a:rPr lang="en-US" dirty="0">
                <a:latin typeface="Book Antiqua" panose="02040602050305030304" pitchFamily="18" charset="0"/>
              </a:rPr>
              <a:t>This project aims to design and analyze a Music Mood &amp; Listening Behavior Analytics System using SQL to store, manage, and analyze music streaming data effectively.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29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4D187D-2BBB-C728-AF83-7370B42DA1BE}"/>
              </a:ext>
            </a:extLst>
          </p:cNvPr>
          <p:cNvSpPr txBox="1"/>
          <p:nvPr/>
        </p:nvSpPr>
        <p:spPr>
          <a:xfrm>
            <a:off x="853440" y="670560"/>
            <a:ext cx="264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Book Antiqua" panose="02040602050305030304" pitchFamily="18" charset="0"/>
              </a:rPr>
              <a:t>Objective</a:t>
            </a:r>
            <a:endParaRPr lang="en-IN" sz="28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AA4C4-36CF-5FF7-7F68-20543A4299DF}"/>
              </a:ext>
            </a:extLst>
          </p:cNvPr>
          <p:cNvSpPr txBox="1"/>
          <p:nvPr/>
        </p:nvSpPr>
        <p:spPr>
          <a:xfrm>
            <a:off x="894080" y="1193780"/>
            <a:ext cx="9926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>
                <a:latin typeface="Book Antiqua" panose="02040602050305030304" pitchFamily="18" charset="0"/>
              </a:rPr>
              <a:t>To build a relational SQL database system that can: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Store information about users, songs, moods, genres, devices, and listening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Book Antiqua" panose="02040602050305030304" pitchFamily="18" charset="0"/>
              </a:rPr>
              <a:t>Analyze</a:t>
            </a:r>
            <a:r>
              <a:rPr lang="en-IN" dirty="0">
                <a:latin typeface="Book Antiqua" panose="02040602050305030304" pitchFamily="18" charset="0"/>
              </a:rPr>
              <a:t> user listening </a:t>
            </a:r>
            <a:r>
              <a:rPr lang="en-IN" dirty="0" err="1">
                <a:latin typeface="Book Antiqua" panose="02040602050305030304" pitchFamily="18" charset="0"/>
              </a:rPr>
              <a:t>behavior</a:t>
            </a:r>
            <a:r>
              <a:rPr lang="en-IN" dirty="0">
                <a:latin typeface="Book Antiqua" panose="02040602050305030304" pitchFamily="18" charset="0"/>
              </a:rPr>
              <a:t> to uncover insights and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Generate analytical queries to support business decisions and personalization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70717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AB2DB6-CAA7-7289-5F65-3928522D615B}"/>
              </a:ext>
            </a:extLst>
          </p:cNvPr>
          <p:cNvSpPr txBox="1"/>
          <p:nvPr/>
        </p:nvSpPr>
        <p:spPr>
          <a:xfrm>
            <a:off x="680720" y="558800"/>
            <a:ext cx="425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Book Antiqua" panose="02040602050305030304" pitchFamily="18" charset="0"/>
              </a:rPr>
              <a:t>Database Overview</a:t>
            </a:r>
            <a:endParaRPr lang="en-IN" sz="28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2ECB6-D673-5143-2E69-F2AFEA7CB966}"/>
              </a:ext>
            </a:extLst>
          </p:cNvPr>
          <p:cNvSpPr txBox="1"/>
          <p:nvPr/>
        </p:nvSpPr>
        <p:spPr>
          <a:xfrm>
            <a:off x="833120" y="1402080"/>
            <a:ext cx="98450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Tables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Users – stores details of listeners (name, age, country).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Songs – contains song info (title, artist, genre, mood, duration).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Genres – list of music genres (Pop, Rock, Jazz,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Moods – list of moods (Happy, Sad, Chill, Energetic,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Devices – stores listening device types (Mobile, Desktop, Smart Speaker, etc.).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Book Antiqua" panose="02040602050305030304" pitchFamily="18" charset="0"/>
              </a:rPr>
              <a:t>ListeningHistory</a:t>
            </a:r>
            <a:r>
              <a:rPr lang="en-IN" dirty="0">
                <a:latin typeface="Book Antiqua" panose="02040602050305030304" pitchFamily="18" charset="0"/>
              </a:rPr>
              <a:t> – logs each song played by each user (with timestamp and device).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48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EAAB5-877D-3DD3-D411-906B4961164C}"/>
              </a:ext>
            </a:extLst>
          </p:cNvPr>
          <p:cNvSpPr txBox="1"/>
          <p:nvPr/>
        </p:nvSpPr>
        <p:spPr>
          <a:xfrm>
            <a:off x="965200" y="1737360"/>
            <a:ext cx="94386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Which songs, artists, or genres are the most popular?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What are the most common listening moods for different users or regions?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Which users are the most active listeners?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What devices are most used for listening?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Which time of day or week has the highest listening activity?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Are certain moods or genres more popular in specific countries?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Which artists have the widest global reach?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What patterns exist in repeated listening behavior?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BB9FD6-9EAD-4E6C-71BA-042DECF943C7}"/>
              </a:ext>
            </a:extLst>
          </p:cNvPr>
          <p:cNvSpPr txBox="1"/>
          <p:nvPr/>
        </p:nvSpPr>
        <p:spPr>
          <a:xfrm>
            <a:off x="965200" y="702826"/>
            <a:ext cx="7965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Book Antiqua" panose="02040602050305030304" pitchFamily="18" charset="0"/>
              </a:rPr>
              <a:t>Key Questions to Answer (Analytics Goals):</a:t>
            </a:r>
            <a:endParaRPr lang="en-IN" sz="28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13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DA36B-3627-9F80-F341-15C4DBD9BDF3}"/>
              </a:ext>
            </a:extLst>
          </p:cNvPr>
          <p:cNvSpPr txBox="1"/>
          <p:nvPr/>
        </p:nvSpPr>
        <p:spPr>
          <a:xfrm>
            <a:off x="792480" y="1010245"/>
            <a:ext cx="1095248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Create Database Music;</a:t>
            </a:r>
          </a:p>
          <a:p>
            <a:r>
              <a:rPr lang="en-IN" dirty="0">
                <a:latin typeface="Book Antiqua" panose="02040602050305030304" pitchFamily="18" charset="0"/>
              </a:rPr>
              <a:t>Use Music;</a:t>
            </a:r>
          </a:p>
          <a:p>
            <a:r>
              <a:rPr lang="en-IN" sz="1600" dirty="0">
                <a:latin typeface="Book Antiqua" panose="02040602050305030304" pitchFamily="18" charset="0"/>
              </a:rPr>
              <a:t> </a:t>
            </a:r>
          </a:p>
          <a:p>
            <a:r>
              <a:rPr lang="en-IN" sz="1600" b="1" dirty="0">
                <a:solidFill>
                  <a:srgbClr val="A50021"/>
                </a:solidFill>
                <a:latin typeface="Book Antiqua" panose="02040602050305030304" pitchFamily="18" charset="0"/>
              </a:rPr>
              <a:t>Table Users</a:t>
            </a:r>
          </a:p>
          <a:p>
            <a:r>
              <a:rPr lang="en-IN" dirty="0">
                <a:latin typeface="Book Antiqua" panose="02040602050305030304" pitchFamily="18" charset="0"/>
              </a:rPr>
              <a:t>CREATE TABLE Users(</a:t>
            </a:r>
            <a:r>
              <a:rPr lang="en-IN" dirty="0" err="1">
                <a:latin typeface="Book Antiqua" panose="02040602050305030304" pitchFamily="18" charset="0"/>
              </a:rPr>
              <a:t>user_id</a:t>
            </a:r>
            <a:r>
              <a:rPr lang="en-IN" dirty="0">
                <a:latin typeface="Book Antiqua" panose="02040602050305030304" pitchFamily="18" charset="0"/>
              </a:rPr>
              <a:t> INT PRIMARY KEY,</a:t>
            </a:r>
          </a:p>
          <a:p>
            <a:r>
              <a:rPr lang="en-IN" dirty="0">
                <a:latin typeface="Book Antiqua" panose="02040602050305030304" pitchFamily="18" charset="0"/>
              </a:rPr>
              <a:t>name VARCHAR(100),age </a:t>
            </a:r>
            <a:r>
              <a:rPr lang="en-IN" dirty="0" err="1">
                <a:latin typeface="Book Antiqua" panose="02040602050305030304" pitchFamily="18" charset="0"/>
              </a:rPr>
              <a:t>INT,country</a:t>
            </a:r>
            <a:r>
              <a:rPr lang="en-IN" dirty="0">
                <a:latin typeface="Book Antiqua" panose="02040602050305030304" pitchFamily="18" charset="0"/>
              </a:rPr>
              <a:t> VARCHAR(100));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solidFill>
                  <a:srgbClr val="A50021"/>
                </a:solidFill>
                <a:latin typeface="Book Antiqua" panose="02040602050305030304" pitchFamily="18" charset="0"/>
              </a:rPr>
              <a:t>Table </a:t>
            </a:r>
            <a:r>
              <a:rPr lang="en-IN" sz="1600" b="1" dirty="0" err="1">
                <a:solidFill>
                  <a:srgbClr val="A50021"/>
                </a:solidFill>
                <a:latin typeface="Book Antiqua" panose="02040602050305030304" pitchFamily="18" charset="0"/>
              </a:rPr>
              <a:t>Generes</a:t>
            </a:r>
            <a:endParaRPr lang="en-IN" sz="16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CREATE TABLE Genres (</a:t>
            </a:r>
            <a:r>
              <a:rPr lang="en-IN" dirty="0" err="1">
                <a:latin typeface="Book Antiqua" panose="02040602050305030304" pitchFamily="18" charset="0"/>
              </a:rPr>
              <a:t>genre_id</a:t>
            </a:r>
            <a:r>
              <a:rPr lang="en-IN" dirty="0">
                <a:latin typeface="Book Antiqua" panose="02040602050305030304" pitchFamily="18" charset="0"/>
              </a:rPr>
              <a:t> INT PRIMARY KEY,</a:t>
            </a:r>
          </a:p>
          <a:p>
            <a:r>
              <a:rPr lang="en-IN" dirty="0">
                <a:latin typeface="Book Antiqua" panose="02040602050305030304" pitchFamily="18" charset="0"/>
              </a:rPr>
              <a:t> </a:t>
            </a:r>
            <a:r>
              <a:rPr lang="en-IN" dirty="0" err="1">
                <a:latin typeface="Book Antiqua" panose="02040602050305030304" pitchFamily="18" charset="0"/>
              </a:rPr>
              <a:t>genre_name</a:t>
            </a:r>
            <a:r>
              <a:rPr lang="en-IN" dirty="0">
                <a:latin typeface="Book Antiqua" panose="02040602050305030304" pitchFamily="18" charset="0"/>
              </a:rPr>
              <a:t> VARCHAR(100));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solidFill>
                  <a:srgbClr val="A50021"/>
                </a:solidFill>
                <a:latin typeface="Book Antiqua" panose="02040602050305030304" pitchFamily="18" charset="0"/>
              </a:rPr>
              <a:t>Table Moods</a:t>
            </a:r>
          </a:p>
          <a:p>
            <a:r>
              <a:rPr lang="en-IN" dirty="0">
                <a:latin typeface="Book Antiqua" panose="02040602050305030304" pitchFamily="18" charset="0"/>
              </a:rPr>
              <a:t>CREATE TABLE Moods </a:t>
            </a:r>
          </a:p>
          <a:p>
            <a:r>
              <a:rPr lang="en-IN" dirty="0">
                <a:latin typeface="Book Antiqua" panose="02040602050305030304" pitchFamily="18" charset="0"/>
              </a:rPr>
              <a:t>(</a:t>
            </a:r>
            <a:r>
              <a:rPr lang="en-IN" dirty="0" err="1">
                <a:latin typeface="Book Antiqua" panose="02040602050305030304" pitchFamily="18" charset="0"/>
              </a:rPr>
              <a:t>mood_id</a:t>
            </a:r>
            <a:r>
              <a:rPr lang="en-IN" dirty="0">
                <a:latin typeface="Book Antiqua" panose="02040602050305030304" pitchFamily="18" charset="0"/>
              </a:rPr>
              <a:t> INT PRIMARY </a:t>
            </a:r>
            <a:r>
              <a:rPr lang="en-IN" dirty="0" err="1">
                <a:latin typeface="Book Antiqua" panose="02040602050305030304" pitchFamily="18" charset="0"/>
              </a:rPr>
              <a:t>KEY,mood_name</a:t>
            </a:r>
            <a:r>
              <a:rPr lang="en-IN" dirty="0">
                <a:latin typeface="Book Antiqua" panose="02040602050305030304" pitchFamily="18" charset="0"/>
              </a:rPr>
              <a:t> VARCHAR(100));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solidFill>
                  <a:srgbClr val="A50021"/>
                </a:solidFill>
                <a:latin typeface="Book Antiqua" panose="02040602050305030304" pitchFamily="18" charset="0"/>
              </a:rPr>
              <a:t>Table Devices</a:t>
            </a:r>
          </a:p>
          <a:p>
            <a:r>
              <a:rPr lang="en-IN" dirty="0">
                <a:latin typeface="Book Antiqua" panose="02040602050305030304" pitchFamily="18" charset="0"/>
              </a:rPr>
              <a:t>CREATE TABLE Devices </a:t>
            </a:r>
          </a:p>
          <a:p>
            <a:r>
              <a:rPr lang="en-IN" dirty="0">
                <a:latin typeface="Book Antiqua" panose="02040602050305030304" pitchFamily="18" charset="0"/>
              </a:rPr>
              <a:t>(</a:t>
            </a:r>
            <a:r>
              <a:rPr lang="en-IN" dirty="0" err="1">
                <a:latin typeface="Book Antiqua" panose="02040602050305030304" pitchFamily="18" charset="0"/>
              </a:rPr>
              <a:t>device_id</a:t>
            </a:r>
            <a:r>
              <a:rPr lang="en-IN" dirty="0">
                <a:latin typeface="Book Antiqua" panose="02040602050305030304" pitchFamily="18" charset="0"/>
              </a:rPr>
              <a:t> INT PRIMARY </a:t>
            </a:r>
            <a:r>
              <a:rPr lang="en-IN" dirty="0" err="1">
                <a:latin typeface="Book Antiqua" panose="02040602050305030304" pitchFamily="18" charset="0"/>
              </a:rPr>
              <a:t>KEY,device_name</a:t>
            </a:r>
            <a:r>
              <a:rPr lang="en-IN" dirty="0">
                <a:latin typeface="Book Antiqua" panose="02040602050305030304" pitchFamily="18" charset="0"/>
              </a:rPr>
              <a:t> VARCHAR(100));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78579-503C-8F44-39D4-445B5A8E9305}"/>
              </a:ext>
            </a:extLst>
          </p:cNvPr>
          <p:cNvSpPr txBox="1"/>
          <p:nvPr/>
        </p:nvSpPr>
        <p:spPr>
          <a:xfrm>
            <a:off x="792480" y="263664"/>
            <a:ext cx="7325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A50021"/>
                </a:solidFill>
                <a:latin typeface="Book Antiqua" panose="02040602050305030304" pitchFamily="18" charset="0"/>
              </a:rPr>
              <a:t>SQL QUERY </a:t>
            </a:r>
            <a:endParaRPr lang="en-IN" sz="28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87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50EBC7-8F4C-BE91-0C4C-D12D3244C25C}"/>
              </a:ext>
            </a:extLst>
          </p:cNvPr>
          <p:cNvSpPr txBox="1"/>
          <p:nvPr/>
        </p:nvSpPr>
        <p:spPr>
          <a:xfrm>
            <a:off x="680720" y="792480"/>
            <a:ext cx="87782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A50021"/>
                </a:solidFill>
                <a:latin typeface="Book Antiqua" panose="02040602050305030304" pitchFamily="18" charset="0"/>
              </a:rPr>
              <a:t>Table Songs</a:t>
            </a:r>
          </a:p>
          <a:p>
            <a:r>
              <a:rPr lang="en-IN" sz="1600" dirty="0">
                <a:latin typeface="Book Antiqua" panose="02040602050305030304" pitchFamily="18" charset="0"/>
              </a:rPr>
              <a:t>CREATE TABLE Songs (</a:t>
            </a:r>
            <a:r>
              <a:rPr lang="en-IN" sz="1600" dirty="0" err="1">
                <a:latin typeface="Book Antiqua" panose="02040602050305030304" pitchFamily="18" charset="0"/>
              </a:rPr>
              <a:t>song_id</a:t>
            </a:r>
            <a:r>
              <a:rPr lang="en-IN" sz="1600" dirty="0">
                <a:latin typeface="Book Antiqua" panose="02040602050305030304" pitchFamily="18" charset="0"/>
              </a:rPr>
              <a:t> INT PRIMARY </a:t>
            </a:r>
            <a:r>
              <a:rPr lang="en-IN" sz="1600" dirty="0" err="1">
                <a:latin typeface="Book Antiqua" panose="02040602050305030304" pitchFamily="18" charset="0"/>
              </a:rPr>
              <a:t>KEY,title</a:t>
            </a:r>
            <a:r>
              <a:rPr lang="en-IN" sz="1600" dirty="0">
                <a:latin typeface="Book Antiqua" panose="02040602050305030304" pitchFamily="18" charset="0"/>
              </a:rPr>
              <a:t> VARCHAR(100),artist VARCHAR(100),</a:t>
            </a:r>
            <a:r>
              <a:rPr lang="en-IN" sz="1600" dirty="0" err="1">
                <a:latin typeface="Book Antiqua" panose="02040602050305030304" pitchFamily="18" charset="0"/>
              </a:rPr>
              <a:t>genre_id</a:t>
            </a:r>
            <a:r>
              <a:rPr lang="en-IN" sz="1600" dirty="0">
                <a:latin typeface="Book Antiqua" panose="02040602050305030304" pitchFamily="18" charset="0"/>
              </a:rPr>
              <a:t> </a:t>
            </a:r>
            <a:r>
              <a:rPr lang="en-IN" sz="1600" dirty="0" err="1">
                <a:latin typeface="Book Antiqua" panose="02040602050305030304" pitchFamily="18" charset="0"/>
              </a:rPr>
              <a:t>INT,mood_id</a:t>
            </a:r>
            <a:r>
              <a:rPr lang="en-IN" sz="1600" dirty="0">
                <a:latin typeface="Book Antiqua" panose="02040602050305030304" pitchFamily="18" charset="0"/>
              </a:rPr>
              <a:t> </a:t>
            </a:r>
            <a:r>
              <a:rPr lang="en-IN" sz="1600" dirty="0" err="1">
                <a:latin typeface="Book Antiqua" panose="02040602050305030304" pitchFamily="18" charset="0"/>
              </a:rPr>
              <a:t>INT,duration</a:t>
            </a:r>
            <a:r>
              <a:rPr lang="en-IN" sz="1600" dirty="0">
                <a:latin typeface="Book Antiqua" panose="02040602050305030304" pitchFamily="18" charset="0"/>
              </a:rPr>
              <a:t> INT,FOREIGN KEY (</a:t>
            </a:r>
            <a:r>
              <a:rPr lang="en-IN" sz="1600" dirty="0" err="1">
                <a:latin typeface="Book Antiqua" panose="02040602050305030304" pitchFamily="18" charset="0"/>
              </a:rPr>
              <a:t>genre_id</a:t>
            </a:r>
            <a:r>
              <a:rPr lang="en-IN" sz="1600" dirty="0">
                <a:latin typeface="Book Antiqua" panose="02040602050305030304" pitchFamily="18" charset="0"/>
              </a:rPr>
              <a:t>) REFERENCES Genres(</a:t>
            </a:r>
            <a:r>
              <a:rPr lang="en-IN" sz="1600" dirty="0" err="1">
                <a:latin typeface="Book Antiqua" panose="02040602050305030304" pitchFamily="18" charset="0"/>
              </a:rPr>
              <a:t>genre_id</a:t>
            </a:r>
            <a:r>
              <a:rPr lang="en-IN" sz="1600" dirty="0">
                <a:latin typeface="Book Antiqua" panose="02040602050305030304" pitchFamily="18" charset="0"/>
              </a:rPr>
              <a:t>),FOREIGN KEY (</a:t>
            </a:r>
            <a:r>
              <a:rPr lang="en-IN" sz="1600" dirty="0" err="1">
                <a:latin typeface="Book Antiqua" panose="02040602050305030304" pitchFamily="18" charset="0"/>
              </a:rPr>
              <a:t>mood_id</a:t>
            </a:r>
            <a:r>
              <a:rPr lang="en-IN" sz="1600" dirty="0">
                <a:latin typeface="Book Antiqua" panose="02040602050305030304" pitchFamily="18" charset="0"/>
              </a:rPr>
              <a:t>) REFERENCES Moods(</a:t>
            </a:r>
            <a:r>
              <a:rPr lang="en-IN" sz="1600" dirty="0" err="1">
                <a:latin typeface="Book Antiqua" panose="02040602050305030304" pitchFamily="18" charset="0"/>
              </a:rPr>
              <a:t>mood_id</a:t>
            </a:r>
            <a:r>
              <a:rPr lang="en-IN" sz="1600" dirty="0">
                <a:latin typeface="Book Antiqua" panose="02040602050305030304" pitchFamily="18" charset="0"/>
              </a:rPr>
              <a:t>)</a:t>
            </a:r>
          </a:p>
          <a:p>
            <a:r>
              <a:rPr lang="en-IN" sz="1600" dirty="0">
                <a:latin typeface="Book Antiqua" panose="02040602050305030304" pitchFamily="18" charset="0"/>
              </a:rPr>
              <a:t>);</a:t>
            </a:r>
          </a:p>
          <a:p>
            <a:endParaRPr lang="en-IN" sz="1600" dirty="0">
              <a:latin typeface="Book Antiqua" panose="02040602050305030304" pitchFamily="18" charset="0"/>
            </a:endParaRPr>
          </a:p>
          <a:p>
            <a:r>
              <a:rPr lang="en-IN" sz="1600" b="1" dirty="0">
                <a:solidFill>
                  <a:srgbClr val="A50021"/>
                </a:solidFill>
                <a:latin typeface="Book Antiqua" panose="02040602050305030304" pitchFamily="18" charset="0"/>
              </a:rPr>
              <a:t>Table </a:t>
            </a:r>
            <a:r>
              <a:rPr lang="en-IN" sz="1600" b="1" dirty="0" err="1">
                <a:solidFill>
                  <a:srgbClr val="A50021"/>
                </a:solidFill>
                <a:latin typeface="Book Antiqua" panose="02040602050305030304" pitchFamily="18" charset="0"/>
              </a:rPr>
              <a:t>ListeningHistory</a:t>
            </a:r>
            <a:endParaRPr lang="en-IN" sz="1600" b="1" dirty="0">
              <a:solidFill>
                <a:srgbClr val="A50021"/>
              </a:solidFill>
              <a:latin typeface="Book Antiqua" panose="02040602050305030304" pitchFamily="18" charset="0"/>
            </a:endParaRPr>
          </a:p>
          <a:p>
            <a:r>
              <a:rPr lang="en-IN" sz="1600" dirty="0">
                <a:latin typeface="Book Antiqua" panose="02040602050305030304" pitchFamily="18" charset="0"/>
              </a:rPr>
              <a:t>CREATE TABLE </a:t>
            </a:r>
            <a:r>
              <a:rPr lang="en-IN" sz="1600" dirty="0" err="1">
                <a:latin typeface="Book Antiqua" panose="02040602050305030304" pitchFamily="18" charset="0"/>
              </a:rPr>
              <a:t>ListeningHistory</a:t>
            </a:r>
            <a:r>
              <a:rPr lang="en-IN" sz="1600" dirty="0">
                <a:latin typeface="Book Antiqua" panose="02040602050305030304" pitchFamily="18" charset="0"/>
              </a:rPr>
              <a:t> (</a:t>
            </a:r>
            <a:r>
              <a:rPr lang="en-IN" sz="1600" dirty="0" err="1">
                <a:latin typeface="Book Antiqua" panose="02040602050305030304" pitchFamily="18" charset="0"/>
              </a:rPr>
              <a:t>history_id</a:t>
            </a:r>
            <a:r>
              <a:rPr lang="en-IN" sz="1600" dirty="0">
                <a:latin typeface="Book Antiqua" panose="02040602050305030304" pitchFamily="18" charset="0"/>
              </a:rPr>
              <a:t> INT PRIMARY </a:t>
            </a:r>
            <a:r>
              <a:rPr lang="en-IN" sz="1600" dirty="0" err="1">
                <a:latin typeface="Book Antiqua" panose="02040602050305030304" pitchFamily="18" charset="0"/>
              </a:rPr>
              <a:t>KEY,user_id</a:t>
            </a:r>
            <a:r>
              <a:rPr lang="en-IN" sz="1600" dirty="0">
                <a:latin typeface="Book Antiqua" panose="02040602050305030304" pitchFamily="18" charset="0"/>
              </a:rPr>
              <a:t> </a:t>
            </a:r>
            <a:r>
              <a:rPr lang="en-IN" sz="1600" dirty="0" err="1">
                <a:latin typeface="Book Antiqua" panose="02040602050305030304" pitchFamily="18" charset="0"/>
              </a:rPr>
              <a:t>INT,song_id</a:t>
            </a:r>
            <a:r>
              <a:rPr lang="en-IN" sz="1600" dirty="0">
                <a:latin typeface="Book Antiqua" panose="02040602050305030304" pitchFamily="18" charset="0"/>
              </a:rPr>
              <a:t> </a:t>
            </a:r>
            <a:r>
              <a:rPr lang="en-IN" sz="1600" dirty="0" err="1">
                <a:latin typeface="Book Antiqua" panose="02040602050305030304" pitchFamily="18" charset="0"/>
              </a:rPr>
              <a:t>INT,device_id</a:t>
            </a:r>
            <a:r>
              <a:rPr lang="en-IN" sz="1600" dirty="0">
                <a:latin typeface="Book Antiqua" panose="02040602050305030304" pitchFamily="18" charset="0"/>
              </a:rPr>
              <a:t> </a:t>
            </a:r>
            <a:r>
              <a:rPr lang="en-IN" sz="1600" dirty="0" err="1">
                <a:latin typeface="Book Antiqua" panose="02040602050305030304" pitchFamily="18" charset="0"/>
              </a:rPr>
              <a:t>INT,listen_time</a:t>
            </a:r>
            <a:r>
              <a:rPr lang="en-IN" sz="1600" dirty="0">
                <a:latin typeface="Book Antiqua" panose="02040602050305030304" pitchFamily="18" charset="0"/>
              </a:rPr>
              <a:t> DATETIME,FOREIGN KEY (</a:t>
            </a:r>
            <a:r>
              <a:rPr lang="en-IN" sz="1600" dirty="0" err="1">
                <a:latin typeface="Book Antiqua" panose="02040602050305030304" pitchFamily="18" charset="0"/>
              </a:rPr>
              <a:t>user_id</a:t>
            </a:r>
            <a:r>
              <a:rPr lang="en-IN" sz="1600" dirty="0">
                <a:latin typeface="Book Antiqua" panose="02040602050305030304" pitchFamily="18" charset="0"/>
              </a:rPr>
              <a:t>) REFERENCES Users(</a:t>
            </a:r>
            <a:r>
              <a:rPr lang="en-IN" sz="1600" dirty="0" err="1">
                <a:latin typeface="Book Antiqua" panose="02040602050305030304" pitchFamily="18" charset="0"/>
              </a:rPr>
              <a:t>user_id</a:t>
            </a:r>
            <a:r>
              <a:rPr lang="en-IN" sz="1600" dirty="0">
                <a:latin typeface="Book Antiqua" panose="02040602050305030304" pitchFamily="18" charset="0"/>
              </a:rPr>
              <a:t>),FOREIGN KEY (</a:t>
            </a:r>
            <a:r>
              <a:rPr lang="en-IN" sz="1600" dirty="0" err="1">
                <a:latin typeface="Book Antiqua" panose="02040602050305030304" pitchFamily="18" charset="0"/>
              </a:rPr>
              <a:t>song_id</a:t>
            </a:r>
            <a:r>
              <a:rPr lang="en-IN" sz="1600" dirty="0">
                <a:latin typeface="Book Antiqua" panose="02040602050305030304" pitchFamily="18" charset="0"/>
              </a:rPr>
              <a:t>) REFERENCES Songs(</a:t>
            </a:r>
            <a:r>
              <a:rPr lang="en-IN" sz="1600" dirty="0" err="1">
                <a:latin typeface="Book Antiqua" panose="02040602050305030304" pitchFamily="18" charset="0"/>
              </a:rPr>
              <a:t>song_id</a:t>
            </a:r>
            <a:r>
              <a:rPr lang="en-IN" sz="1600" dirty="0">
                <a:latin typeface="Book Antiqua" panose="02040602050305030304" pitchFamily="18" charset="0"/>
              </a:rPr>
              <a:t>),FOREIGN KEY (</a:t>
            </a:r>
            <a:r>
              <a:rPr lang="en-IN" sz="1600" dirty="0" err="1">
                <a:latin typeface="Book Antiqua" panose="02040602050305030304" pitchFamily="18" charset="0"/>
              </a:rPr>
              <a:t>device_id</a:t>
            </a:r>
            <a:r>
              <a:rPr lang="en-IN" sz="1600" dirty="0">
                <a:latin typeface="Book Antiqua" panose="02040602050305030304" pitchFamily="18" charset="0"/>
              </a:rPr>
              <a:t>) REFERENCES Devices(</a:t>
            </a:r>
            <a:r>
              <a:rPr lang="en-IN" sz="1600" dirty="0" err="1">
                <a:latin typeface="Book Antiqua" panose="02040602050305030304" pitchFamily="18" charset="0"/>
              </a:rPr>
              <a:t>device_id</a:t>
            </a:r>
            <a:r>
              <a:rPr lang="en-IN" sz="1600" dirty="0">
                <a:latin typeface="Book Antiqua" panose="02040602050305030304" pitchFamily="18" charset="0"/>
              </a:rPr>
              <a:t>)</a:t>
            </a:r>
          </a:p>
          <a:p>
            <a:r>
              <a:rPr lang="en-IN" sz="1600" dirty="0">
                <a:latin typeface="Book Antiqua" panose="02040602050305030304" pitchFamily="18" charset="0"/>
              </a:rPr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795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8DAB5A-E020-DD77-FE2C-D663CE19E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8" y="562506"/>
            <a:ext cx="3858163" cy="148610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0A7517-F356-375D-794B-6C805A624B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514" y="213360"/>
            <a:ext cx="2282326" cy="1835253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ACCD18-7C68-38C8-BAE6-9DB3929EE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8" y="2638209"/>
            <a:ext cx="3979828" cy="158158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43AE7C-498E-6DAC-EB4C-C60CC9FAB0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514" y="2285839"/>
            <a:ext cx="2282326" cy="1933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95B5EF-5B4A-9ECB-0A96-714E57E3E9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38" y="4809386"/>
            <a:ext cx="4086795" cy="1778139"/>
          </a:xfrm>
          <a:prstGeom prst="rect">
            <a:avLst/>
          </a:prstGeom>
        </p:spPr>
      </p:pic>
      <p:pic>
        <p:nvPicPr>
          <p:cNvPr id="15" name="Picture 14" descr="A close up of a number&#10;&#10;AI-generated content may be incorrect.">
            <a:extLst>
              <a:ext uri="{FF2B5EF4-FFF2-40B4-BE49-F238E27FC236}">
                <a16:creationId xmlns:a16="http://schemas.microsoft.com/office/drawing/2014/main" id="{D37101C6-C1E2-72F4-B0B8-426FCFA9C3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514" y="4958682"/>
            <a:ext cx="2410161" cy="56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2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E8487F-CF22-0D93-25D6-A0C2E00B71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4" y="532945"/>
            <a:ext cx="4171316" cy="1641295"/>
          </a:xfrm>
          <a:prstGeom prst="rect">
            <a:avLst/>
          </a:prstGeom>
        </p:spPr>
      </p:pic>
      <p:pic>
        <p:nvPicPr>
          <p:cNvPr id="5" name="Picture 4" descr="A close up of a white box&#10;&#10;AI-generated content may be incorrect.">
            <a:extLst>
              <a:ext uri="{FF2B5EF4-FFF2-40B4-BE49-F238E27FC236}">
                <a16:creationId xmlns:a16="http://schemas.microsoft.com/office/drawing/2014/main" id="{566D745F-A942-CD45-38CD-72896CD957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03" y="532945"/>
            <a:ext cx="2438877" cy="635455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9ED978-8EC3-4944-DE7F-9EFB346923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4" y="2608352"/>
            <a:ext cx="3388996" cy="1641296"/>
          </a:xfrm>
          <a:prstGeom prst="rect">
            <a:avLst/>
          </a:prstGeom>
        </p:spPr>
      </p:pic>
      <p:pic>
        <p:nvPicPr>
          <p:cNvPr id="9" name="Picture 8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CB8EC0AA-291B-8564-969B-39B3E78487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03" y="2422747"/>
            <a:ext cx="2210108" cy="1362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9988F3-90F4-26E1-7696-7BADAF5E7C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5" y="4573478"/>
            <a:ext cx="3673476" cy="1471722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D5CDF0-4F2E-590E-346F-1641A52A2A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03" y="4484594"/>
            <a:ext cx="2229161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81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9B99A80-854E-09B8-7979-44186A7AD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88" y="581865"/>
            <a:ext cx="4294852" cy="1389175"/>
          </a:xfrm>
          <a:prstGeom prst="rect">
            <a:avLst/>
          </a:prstGeom>
        </p:spPr>
      </p:pic>
      <p:pic>
        <p:nvPicPr>
          <p:cNvPr id="25" name="Picture 24" descr="A white background with black and blue text&#10;&#10;AI-generated content may be incorrect.">
            <a:extLst>
              <a:ext uri="{FF2B5EF4-FFF2-40B4-BE49-F238E27FC236}">
                <a16:creationId xmlns:a16="http://schemas.microsoft.com/office/drawing/2014/main" id="{6E2565FF-FFDB-B086-21B0-936B36A04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88" y="2509403"/>
            <a:ext cx="5372850" cy="1676634"/>
          </a:xfrm>
          <a:prstGeom prst="rect">
            <a:avLst/>
          </a:prstGeom>
        </p:spPr>
      </p:pic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133EAD-D16D-54A2-BF17-BB66637D8F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054" y="322099"/>
            <a:ext cx="1856546" cy="1862302"/>
          </a:xfrm>
          <a:prstGeom prst="rect">
            <a:avLst/>
          </a:prstGeom>
        </p:spPr>
      </p:pic>
      <p:pic>
        <p:nvPicPr>
          <p:cNvPr id="29" name="Picture 28" descr="A screenshot of a data sheet&#10;&#10;AI-generated content may be incorrect.">
            <a:extLst>
              <a:ext uri="{FF2B5EF4-FFF2-40B4-BE49-F238E27FC236}">
                <a16:creationId xmlns:a16="http://schemas.microsoft.com/office/drawing/2014/main" id="{CB398145-3630-0867-FC14-3B0CDC85E2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055" y="2452704"/>
            <a:ext cx="1927666" cy="1952592"/>
          </a:xfrm>
          <a:prstGeom prst="rect">
            <a:avLst/>
          </a:prstGeom>
        </p:spPr>
      </p:pic>
      <p:pic>
        <p:nvPicPr>
          <p:cNvPr id="31" name="Picture 3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A95D801-CE65-EFA9-D4AC-84C0D8795D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89" y="4510480"/>
            <a:ext cx="4294852" cy="1676634"/>
          </a:xfrm>
          <a:prstGeom prst="rect">
            <a:avLst/>
          </a:prstGeom>
        </p:spPr>
      </p:pic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B0E10F-9CF7-511C-5938-C715B50AB2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054" y="4673599"/>
            <a:ext cx="2120706" cy="186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27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2B92C311-E533-B8ED-0C1B-1FEF7D2AD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08" y="354915"/>
            <a:ext cx="4651479" cy="1503382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803F00-29B0-019D-DFDE-5D90B9348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902" y="354885"/>
            <a:ext cx="2829320" cy="1920225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1A7A734-A88C-79AB-99F7-48407BB23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08" y="2478567"/>
            <a:ext cx="4651478" cy="1900866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A76E1-4163-24C4-A0E5-92F0FDEBE2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902" y="2762157"/>
            <a:ext cx="2295845" cy="666843"/>
          </a:xfrm>
          <a:prstGeom prst="rect">
            <a:avLst/>
          </a:prstGeom>
        </p:spPr>
      </p:pic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D5FBB30-461A-2ECD-FEE5-5A948DB1D1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08" y="4814567"/>
            <a:ext cx="3248478" cy="1514686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54A5D4-C3EB-7149-DA71-C8B0D94EF5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902" y="4493342"/>
            <a:ext cx="1955434" cy="193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41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7481A32-264C-0180-C8C3-6AC3674286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67" y="103238"/>
            <a:ext cx="5014910" cy="181466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5A964D-3D95-B83F-B0B5-0BC26AEA9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918" y="103238"/>
            <a:ext cx="2809005" cy="1736643"/>
          </a:xfrm>
          <a:prstGeom prst="rect">
            <a:avLst/>
          </a:prstGeom>
        </p:spPr>
      </p:pic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CE0B4FFA-FC86-C765-D9A4-499E09365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67" y="2335161"/>
            <a:ext cx="4886144" cy="177042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3FDC85-7CBC-1CB1-834A-376FFCAED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918" y="2914140"/>
            <a:ext cx="1991003" cy="695422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86AFA73-F2FF-7321-7AD8-790FA76F17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967" y="4296697"/>
            <a:ext cx="4748667" cy="2458065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2ED116-BA95-51BB-80FF-2555B8E1A7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918" y="4224325"/>
            <a:ext cx="2353003" cy="238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6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68D6D8F-E8C2-70BF-4FF9-F116C3B9E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56" y="110510"/>
            <a:ext cx="5564128" cy="269168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41E83E-D4C8-CA4E-0F2B-9DB61C431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345" y="208833"/>
            <a:ext cx="3096057" cy="2219735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430C31-BCC5-AAA1-09A7-41963BC1DC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56" y="3038168"/>
            <a:ext cx="5296639" cy="3494627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81EAA6-55F9-0BE7-A05B-D33843B367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2345" y="3160690"/>
            <a:ext cx="2649242" cy="148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5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E3207AA-7B26-847D-431A-C1068AF15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84" y="157577"/>
            <a:ext cx="4439451" cy="344102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3432A3-8055-E219-250C-4A9EBC55D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413" y="157577"/>
            <a:ext cx="3467767" cy="2423943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AF17199-63AC-98E9-BD86-063D58927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85" y="3834580"/>
            <a:ext cx="6199426" cy="294967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277482-E046-72B4-8EAB-651A50244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413" y="3834580"/>
            <a:ext cx="3500281" cy="25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4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A46AB9D-0B4E-F4AC-2CE0-3B003332E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67" y="274689"/>
            <a:ext cx="6282843" cy="3874524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89E667-D69B-B5B5-F286-6ED19A902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3016" y="437506"/>
            <a:ext cx="3185823" cy="299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17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142</TotalTime>
  <Words>602</Words>
  <Application>Microsoft Office PowerPoint</Application>
  <PresentationFormat>Widescreen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Book Antiqua</vt:lpstr>
      <vt:lpstr>Office Theme</vt:lpstr>
      <vt:lpstr>Music Mood &amp; Listening Behavior Analysis  SQL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Kalambe</dc:creator>
  <cp:lastModifiedBy>Mahesh Kalambe</cp:lastModifiedBy>
  <cp:revision>2</cp:revision>
  <dcterms:created xsi:type="dcterms:W3CDTF">2025-10-27T08:40:05Z</dcterms:created>
  <dcterms:modified xsi:type="dcterms:W3CDTF">2025-10-27T11:09:36Z</dcterms:modified>
</cp:coreProperties>
</file>